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E-COMMERCE SALES &amp; CUSTOMER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6217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80808"/>
                </a:solidFill>
                <a:latin typeface="Arial"/>
              </a:rPr>
              <a:t>E-commerce sales
and customer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69748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4B4B"/>
                </a:solidFill>
                <a:latin typeface="Arial"/>
              </a:rPr>
              <a:t>Data analysis · sales, products, customers, markets and time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B"/>
                </a:solidFill>
                <a:latin typeface="Arial"/>
              </a:rPr>
              <a:t>Python · Pandas · NumPy · Matplotlib · Seaborn · SQL/MySQL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4B4B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SCOPE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863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0808"/>
                </a:solidFill>
                <a:latin typeface="Arial"/>
              </a:rPr>
              <a:t>524,878 cleaned transactions provide a broad view of sales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92024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83794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80808"/>
                </a:solidFill>
                <a:latin typeface="Arial"/>
              </a:rPr>
              <a:t>524,878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83794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B4B4B"/>
                </a:solidFill>
                <a:latin typeface="Arial"/>
              </a:rPr>
              <a:t>cleaned transaction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92024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8" y="2011680"/>
            <a:ext cx="183794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80808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2423160"/>
            <a:ext cx="183794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B4B4B"/>
                </a:solidFill>
                <a:latin typeface="Arial"/>
              </a:rPr>
              <a:t>analysis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0368" y="192024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0096" y="2011680"/>
            <a:ext cx="183794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80808"/>
                </a:solidFill>
                <a:latin typeface="Arial"/>
              </a:rPr>
              <a:t>19,962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2423160"/>
            <a:ext cx="183794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B4B4B"/>
                </a:solidFill>
                <a:latin typeface="Arial"/>
              </a:rPr>
              <a:t>unique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88936" y="192024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8663" y="2011680"/>
            <a:ext cx="1837943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80808"/>
                </a:solidFill>
                <a:latin typeface="Arial"/>
              </a:rPr>
              <a:t>4,338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3" y="2423160"/>
            <a:ext cx="183794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B4B4B"/>
                </a:solidFill>
                <a:latin typeface="Arial"/>
              </a:rPr>
              <a:t>identified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48DC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004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rial"/>
              </a:rPr>
              <a:t>Prepare the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661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B"/>
                </a:solidFill>
                <a:latin typeface="Arial"/>
              </a:rPr>
              <a:t>Remove duplicates, handle missing descriptions and customer IDs, and exclude non-positive quantity or price transactions.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48DC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32004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rial"/>
              </a:rPr>
              <a:t>Engineer the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35661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B"/>
                </a:solidFill>
                <a:latin typeface="Arial"/>
              </a:rPr>
              <a:t>Create Revenue, Year, Month_Name and Day to support KPI, product, geography and time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48DC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0040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rial"/>
              </a:rPr>
              <a:t>Answer business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66160"/>
            <a:ext cx="2834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B"/>
                </a:solidFill>
                <a:latin typeface="Arial"/>
              </a:rPr>
              <a:t>Use Python analysis, visualization and the project's SQL/MySQL scope to turn transactions into business insights.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B4B4B"/>
                </a:solidFill>
                <a:latin typeface="Arial"/>
              </a:rPr>
              <a:t>SOURCE · E-Commerce Sales &amp; Customer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4B4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REVENUE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589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0808"/>
                </a:solidFill>
                <a:latin typeface="Arial"/>
              </a:rPr>
              <a:t>Revenue is highly concentrated in the strongest sales periods</a:t>
            </a:r>
          </a:p>
        </p:txBody>
      </p:sp>
      <p:pic>
        <p:nvPicPr>
          <p:cNvPr id="4" name="Picture 3" descr="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676656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9560" y="1874519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048DC"/>
                </a:solidFill>
                <a:latin typeface="Arial"/>
              </a:rPr>
              <a:t>PEAK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21488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80808"/>
                </a:solidFill>
                <a:latin typeface="Arial"/>
              </a:rPr>
              <a:t>November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63347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80808"/>
                </a:solidFill>
                <a:latin typeface="Arial"/>
              </a:rPr>
              <a:t>≈ 15.4 lakh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24612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4B4B"/>
                </a:solidFill>
                <a:latin typeface="Arial"/>
              </a:rPr>
              <a:t>Highest recorded monthly revenue in the project analysis. December follows at approximately 14.59 lakh.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45720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048DC"/>
                </a:solidFill>
                <a:latin typeface="Arial"/>
              </a:rPr>
              <a:t>SO 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489204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Peak periods require inventory and operational capacity; weaker months create an opportunity for targeted promotions.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B4B4B"/>
                </a:solidFill>
                <a:latin typeface="Arial"/>
              </a:rPr>
              <a:t>SOURCE · Project analysis · Revenue by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4B4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ORDER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680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0808"/>
                </a:solidFill>
                <a:latin typeface="Arial"/>
              </a:rPr>
              <a:t>Order activity follows the same seasonal peak as revenue</a:t>
            </a:r>
          </a:p>
        </p:txBody>
      </p:sp>
      <p:pic>
        <p:nvPicPr>
          <p:cNvPr id="4" name="Picture 3" descr="monthly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676656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9560" y="1874519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048DC"/>
                </a:solidFill>
                <a:latin typeface="Arial"/>
              </a:rPr>
              <a:t>NOVEMBER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80808"/>
                </a:solidFill>
                <a:latin typeface="Arial"/>
              </a:rPr>
              <a:t>2,769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92608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4B4B"/>
                </a:solidFill>
                <a:latin typeface="Arial"/>
              </a:rPr>
              <a:t>Highest monthly order count in the analyzed data. December follows with 2,378 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425196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048DC"/>
                </a:solidFill>
                <a:latin typeface="Arial"/>
              </a:rPr>
              <a:t>DECISION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457200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Plan stock, fulfillment capacity and customer support ahead of the peak season.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B4B4B"/>
                </a:solidFill>
                <a:latin typeface="Arial"/>
              </a:rPr>
              <a:t>SOURCE · Project analysis · Orders by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4B4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PRODUCT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8046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0808"/>
                </a:solidFill>
                <a:latin typeface="Arial"/>
              </a:rPr>
              <a:t>A small group of products drives meaningful revenue and volume</a:t>
            </a:r>
          </a:p>
        </p:txBody>
      </p:sp>
      <p:pic>
        <p:nvPicPr>
          <p:cNvPr id="4" name="Picture 3" descr="produc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257800" cy="4160520"/>
          </a:xfrm>
          <a:prstGeom prst="rect">
            <a:avLst/>
          </a:prstGeom>
        </p:spPr>
      </p:pic>
      <p:pic>
        <p:nvPicPr>
          <p:cNvPr id="5" name="Picture 4" descr="product_quant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28800"/>
            <a:ext cx="52578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3504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80808"/>
                </a:solidFill>
                <a:latin typeface="Arial"/>
              </a:rPr>
              <a:t>Revenue leader: DOTCOM POSTAGE · ≈ 2.06 lakh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603504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80808"/>
                </a:solidFill>
                <a:latin typeface="Arial"/>
              </a:rPr>
              <a:t>Quantity leader: PAPER CRAFT, LITTLE BIRDIE · 80,995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B4B4B"/>
                </a:solidFill>
                <a:latin typeface="Arial"/>
              </a:rPr>
              <a:t>SOURCE · Project analysis · Product revenue and 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4B4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CUSTOMER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8046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0808"/>
                </a:solidFill>
                <a:latin typeface="Arial"/>
              </a:rPr>
              <a:t>Customer-level analysis can identify high-value revenue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288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048DC"/>
                </a:solidFill>
                <a:latin typeface="Arial"/>
              </a:rPr>
              <a:t>TOP CUSTOMER GROUPS BY REVENUE</a:t>
            </a:r>
          </a:p>
        </p:txBody>
      </p:sp>
      <p:pic>
        <p:nvPicPr>
          <p:cNvPr id="5" name="Picture 4" descr="customer_revenue_iden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63093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96596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048DC"/>
                </a:solidFill>
                <a:latin typeface="Arial"/>
              </a:rPr>
              <a:t>DATA QUALITY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331720"/>
            <a:ext cx="3383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Customer ID 0 represents transactions whose original Customer ID was missing. It should not be interpreted as one real customer.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977639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048DC"/>
                </a:solidFill>
                <a:latin typeface="Arial"/>
              </a:rPr>
              <a:t>BUSINESS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343400"/>
            <a:ext cx="3383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Use identified high-value customers as a starting point for retention, loyalty and personalized offers.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B4B4B"/>
                </a:solidFill>
                <a:latin typeface="Arial"/>
              </a:rPr>
              <a:t>SOURCE · Project analysis · Customer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4B4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GEOGRAPHIC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772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0808"/>
                </a:solidFill>
                <a:latin typeface="Arial"/>
              </a:rPr>
              <a:t>The United Kingdom is the dominant market in the analysis</a:t>
            </a:r>
          </a:p>
        </p:txBody>
      </p:sp>
      <p:pic>
        <p:nvPicPr>
          <p:cNvPr id="4" name="Picture 3" descr="countr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394960" cy="4160520"/>
          </a:xfrm>
          <a:prstGeom prst="rect">
            <a:avLst/>
          </a:prstGeom>
        </p:spPr>
      </p:pic>
      <p:pic>
        <p:nvPicPr>
          <p:cNvPr id="5" name="Picture 4" descr="country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28800"/>
            <a:ext cx="539496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3504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80808"/>
                </a:solidFill>
                <a:latin typeface="Arial"/>
              </a:rPr>
              <a:t>≈ 90.02 lakh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603504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80808"/>
                </a:solidFill>
                <a:latin typeface="Arial"/>
              </a:rPr>
              <a:t>18,019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B4B4B"/>
                </a:solidFill>
                <a:latin typeface="Arial"/>
              </a:rPr>
              <a:t>SOURCE · Project analysis · Country revenue and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4B4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YEARLY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8046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0808"/>
                </a:solidFill>
                <a:latin typeface="Arial"/>
              </a:rPr>
              <a:t>Revenue increased substantially from 2010 to 2011</a:t>
            </a:r>
          </a:p>
        </p:txBody>
      </p:sp>
      <p:pic>
        <p:nvPicPr>
          <p:cNvPr id="4" name="Picture 3" descr="year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640080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965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286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80808"/>
                </a:solidFill>
                <a:latin typeface="Arial"/>
              </a:rPr>
              <a:t>≈ 8.21 lakh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31546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2011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3474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80808"/>
                </a:solidFill>
                <a:latin typeface="Arial"/>
              </a:rPr>
              <a:t>≈ 98.21 lakh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45720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048DC"/>
                </a:solidFill>
                <a:latin typeface="Arial"/>
              </a:rPr>
              <a:t>NEXT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89204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Investigate which products, markets and customer behaviors contributed to the year-over-year increase.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B4B4B"/>
                </a:solidFill>
                <a:latin typeface="Arial"/>
              </a:rPr>
              <a:t>SOURCE · Project analysis · Revenue by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4B4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8229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0808"/>
                </a:solidFill>
                <a:latin typeface="Arial"/>
              </a:rPr>
              <a:t>Observed patterns can be converted into focused business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48DC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105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0808"/>
                </a:solidFill>
                <a:latin typeface="Arial"/>
              </a:rPr>
              <a:t>Prepare for peak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10512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4B4B"/>
                </a:solidFill>
                <a:latin typeface="Arial"/>
              </a:rPr>
              <a:t>Align inventory and operational capacity with November and December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48DC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334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0808"/>
                </a:solidFill>
                <a:latin typeface="Arial"/>
              </a:rPr>
              <a:t>Protect product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33472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4B4B"/>
                </a:solidFill>
                <a:latin typeface="Arial"/>
              </a:rPr>
              <a:t>Prioritize stock planning for high-revenue and high-volume products.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48DC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564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0808"/>
                </a:solidFill>
                <a:latin typeface="Arial"/>
              </a:rPr>
              <a:t>Retain high-value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56432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4B4B"/>
                </a:solidFill>
                <a:latin typeface="Arial"/>
              </a:rPr>
              <a:t>Use loyalty initiatives and personalized offers for identified high-value customers.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48DC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7939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0808"/>
                </a:solidFill>
                <a:latin typeface="Arial"/>
              </a:rPr>
              <a:t>Strengthen the core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79392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4B4B"/>
                </a:solidFill>
                <a:latin typeface="Arial"/>
              </a:rPr>
              <a:t>Maintain strong service and operational capacity in the United Kingdom.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48DC"/>
                </a:solidFill>
                <a:latin typeface="Arial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023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0808"/>
                </a:solidFill>
                <a:latin typeface="Arial"/>
              </a:rPr>
              <a:t>Activate weaker periods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02352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4B4B"/>
                </a:solidFill>
                <a:latin typeface="Arial"/>
              </a:rPr>
              <a:t>Test targeted promotions and engagement strategies in lower-performing months.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048DC"/>
                </a:solidFill>
                <a:latin typeface="Arial"/>
              </a:rPr>
              <a:t>DECISION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61888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0808"/>
                </a:solidFill>
                <a:latin typeface="Arial"/>
              </a:rPr>
              <a:t>Observed behavior → focused action → measured commercial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46520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B4B4B"/>
                </a:solidFill>
                <a:latin typeface="Arial"/>
              </a:rPr>
              <a:t>SOURCE · E-Commerce Sales &amp; Customer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4B4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48DC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8321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0808"/>
                </a:solidFill>
                <a:latin typeface="Arial"/>
              </a:rPr>
              <a:t>The analysis turns transactional data into a practical business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48DC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2996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rial"/>
              </a:rPr>
              <a:t>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029968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4B4B"/>
                </a:solidFill>
                <a:latin typeface="Arial"/>
              </a:rPr>
              <a:t>Revenue and order activity peak around November and December.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48DC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6148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rial"/>
              </a:rPr>
              <a:t>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761488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4B4B"/>
                </a:solidFill>
                <a:latin typeface="Arial"/>
              </a:rPr>
              <a:t>A focused set of products leads revenue or sales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48DC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9300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rial"/>
              </a:rPr>
              <a:t>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493008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4B4B"/>
                </a:solidFill>
                <a:latin typeface="Arial"/>
              </a:rPr>
              <a:t>The United Kingdom dominates the analyzed revenue and order 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48DC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2452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rial"/>
              </a:rP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4224528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4B4B"/>
                </a:solidFill>
                <a:latin typeface="Arial"/>
              </a:rPr>
              <a:t>Customer revenue analysis provides a basis for retention and loyalty strategies.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48DC"/>
                </a:solidFill>
                <a:latin typeface="Arial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5604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80808"/>
                </a:solidFill>
                <a:latin typeface="Arial"/>
              </a:rPr>
              <a:t>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956048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4B4B"/>
                </a:solidFill>
                <a:latin typeface="Arial"/>
              </a:rPr>
              <a:t>The 2010–2011 increase should be investigated to understand its drivers.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7220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048DC"/>
                </a:solidFill>
                <a:latin typeface="Arial"/>
              </a:rPr>
              <a:t>E-COMMERCE SALES &amp; CUSTOMER ANALYTICS · DATA ANALYSIS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4B4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